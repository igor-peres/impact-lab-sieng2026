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Literata Regular"/>
        <a:ea typeface="Literata Regular"/>
        <a:cs typeface="Literata Regular"/>
        <a:sym typeface="Literata Regular"/>
      </a:defRPr>
    </a:lvl1pPr>
    <a:lvl2pPr marL="0" marR="0" indent="4572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Literata Regular"/>
        <a:ea typeface="Literata Regular"/>
        <a:cs typeface="Literata Regular"/>
        <a:sym typeface="Literata Regular"/>
      </a:defRPr>
    </a:lvl2pPr>
    <a:lvl3pPr marL="0" marR="0" indent="9144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Literata Regular"/>
        <a:ea typeface="Literata Regular"/>
        <a:cs typeface="Literata Regular"/>
        <a:sym typeface="Literata Regular"/>
      </a:defRPr>
    </a:lvl3pPr>
    <a:lvl4pPr marL="0" marR="0" indent="13716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Literata Regular"/>
        <a:ea typeface="Literata Regular"/>
        <a:cs typeface="Literata Regular"/>
        <a:sym typeface="Literata Regular"/>
      </a:defRPr>
    </a:lvl4pPr>
    <a:lvl5pPr marL="0" marR="0" indent="18288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Literata Regular"/>
        <a:ea typeface="Literata Regular"/>
        <a:cs typeface="Literata Regular"/>
        <a:sym typeface="Literata Regular"/>
      </a:defRPr>
    </a:lvl5pPr>
    <a:lvl6pPr marL="0" marR="0" indent="22860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Literata Regular"/>
        <a:ea typeface="Literata Regular"/>
        <a:cs typeface="Literata Regular"/>
        <a:sym typeface="Literata Regular"/>
      </a:defRPr>
    </a:lvl6pPr>
    <a:lvl7pPr marL="0" marR="0" indent="27432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Literata Regular"/>
        <a:ea typeface="Literata Regular"/>
        <a:cs typeface="Literata Regular"/>
        <a:sym typeface="Literata Regular"/>
      </a:defRPr>
    </a:lvl7pPr>
    <a:lvl8pPr marL="0" marR="0" indent="32004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Literata Regular"/>
        <a:ea typeface="Literata Regular"/>
        <a:cs typeface="Literata Regular"/>
        <a:sym typeface="Literata Regular"/>
      </a:defRPr>
    </a:lvl8pPr>
    <a:lvl9pPr marL="0" marR="0" indent="36576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Literata Regular"/>
        <a:ea typeface="Literata Regular"/>
        <a:cs typeface="Literata Regular"/>
        <a:sym typeface="Literata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30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Tona Peres" userId="3419b79b-87df-4633-8243-500269746ef9" providerId="ADAL" clId="{947E9F62-747D-4FDF-8708-A68DB5A8E340}"/>
    <pc:docChg chg="modSld">
      <pc:chgData name="Igor Tona Peres" userId="3419b79b-87df-4633-8243-500269746ef9" providerId="ADAL" clId="{947E9F62-747D-4FDF-8708-A68DB5A8E340}" dt="2026-08-27T23:39:53.092" v="26" actId="1036"/>
      <pc:docMkLst>
        <pc:docMk/>
      </pc:docMkLst>
      <pc:sldChg chg="modSp mod">
        <pc:chgData name="Igor Tona Peres" userId="3419b79b-87df-4633-8243-500269746ef9" providerId="ADAL" clId="{947E9F62-747D-4FDF-8708-A68DB5A8E340}" dt="2026-08-27T23:39:53.092" v="26" actId="1036"/>
        <pc:sldMkLst>
          <pc:docMk/>
          <pc:sldMk cId="0" sldId="266"/>
        </pc:sldMkLst>
        <pc:picChg chg="mod">
          <ac:chgData name="Igor Tona Peres" userId="3419b79b-87df-4633-8243-500269746ef9" providerId="ADAL" clId="{947E9F62-747D-4FDF-8708-A68DB5A8E340}" dt="2026-08-27T23:39:53.092" v="26" actId="1036"/>
          <ac:picMkLst>
            <pc:docMk/>
            <pc:sldMk cId="0" sldId="266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6" name="Shape 7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3107720" y="11584384"/>
            <a:ext cx="10264209" cy="1613006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 defTabSz="825500">
              <a:buSzTx/>
              <a:buNone/>
              <a:defRPr sz="3600">
                <a:latin typeface="Rethink Sans Regular"/>
                <a:ea typeface="Rethink Sans Regular"/>
                <a:cs typeface="Rethink Sans Regular"/>
                <a:sym typeface="Rethink Sans Regular"/>
              </a:defRPr>
            </a:lvl1pPr>
          </a:lstStyle>
          <a:p>
            <a:r>
              <a:t>Author and Date</a:t>
            </a:r>
          </a:p>
        </p:txBody>
      </p:sp>
      <p:pic>
        <p:nvPicPr>
          <p:cNvPr id="13" name="_puc_rio-V_cor_abr_rgb_23-10-18.png" descr="_puc_rio-V_cor_abr_rgb_23-10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3540" y="978720"/>
            <a:ext cx="2559668" cy="3813875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3102563" y="5770738"/>
            <a:ext cx="10264208" cy="5799453"/>
          </a:xfrm>
          <a:prstGeom prst="rect">
            <a:avLst/>
          </a:prstGeom>
        </p:spPr>
        <p:txBody>
          <a:bodyPr anchor="b"/>
          <a:lstStyle>
            <a:lvl1pPr>
              <a:defRPr sz="11500" spc="-230"/>
            </a:lvl1pPr>
          </a:lstStyle>
          <a:p>
            <a:r>
              <a:t>Presentation Title</a:t>
            </a:r>
          </a:p>
        </p:txBody>
      </p:sp>
      <p:pic>
        <p:nvPicPr>
          <p:cNvPr id="15" name="Slide Cover 7.png" descr="Slide Cover 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91816" y="11594158"/>
            <a:ext cx="10264208" cy="1613006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 defTabSz="825500">
              <a:buSzTx/>
              <a:buNone/>
              <a:defRPr sz="3600">
                <a:latin typeface="Rethink Sans Regular"/>
                <a:ea typeface="Rethink Sans Regular"/>
                <a:cs typeface="Rethink Sans Regular"/>
                <a:sym typeface="Rethink Sans Regular"/>
              </a:defRPr>
            </a:lvl1pPr>
          </a:lstStyle>
          <a:p>
            <a:r>
              <a:t>Author and Date</a:t>
            </a:r>
          </a:p>
        </p:txBody>
      </p:sp>
      <p:sp>
        <p:nvSpPr>
          <p:cNvPr id="24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091816" y="5770738"/>
            <a:ext cx="10264208" cy="5799453"/>
          </a:xfrm>
          <a:prstGeom prst="rect">
            <a:avLst/>
          </a:prstGeom>
        </p:spPr>
        <p:txBody>
          <a:bodyPr anchor="b"/>
          <a:lstStyle>
            <a:lvl1pPr>
              <a:defRPr sz="11500" spc="-230"/>
            </a:lvl1pPr>
          </a:lstStyle>
          <a:p>
            <a:r>
              <a:t>Presentation Title</a:t>
            </a:r>
          </a:p>
        </p:txBody>
      </p:sp>
      <p:pic>
        <p:nvPicPr>
          <p:cNvPr id="25" name="_puc_rio-V_cor_abr_rgb_23-10-18.png" descr="_puc_rio-V_cor_abr_rgb_23-10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24" y="978720"/>
            <a:ext cx="2559669" cy="3813875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Slide Cover 8.png" descr="Slide Cover 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2737285" y="739322"/>
            <a:ext cx="17327633" cy="1582292"/>
          </a:xfrm>
          <a:prstGeom prst="rect">
            <a:avLst/>
          </a:prstGeom>
        </p:spPr>
        <p:txBody>
          <a:bodyPr anchor="ctr"/>
          <a:lstStyle/>
          <a:p>
            <a:r>
              <a:t>Section Title</a:t>
            </a:r>
          </a:p>
        </p:txBody>
      </p:sp>
      <p:pic>
        <p:nvPicPr>
          <p:cNvPr id="35" name="_puc_rio-H_cor_abr_rgb_23-10-18.png" descr="_puc_rio-H_cor_abr_rgb_23-10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5130" y="526000"/>
            <a:ext cx="3350413" cy="2008935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2733895" y="2815296"/>
            <a:ext cx="20910137" cy="5130596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  <a:lvl2pPr marL="0" indent="457200">
              <a:buSzTx/>
              <a:buNone/>
            </a:lvl2pPr>
            <a:lvl3pPr marL="0" indent="914400">
              <a:buSzTx/>
              <a:buNone/>
            </a:lvl3pPr>
            <a:lvl4pPr marL="0" indent="1371600">
              <a:buSzTx/>
              <a:buNone/>
            </a:lvl4pPr>
            <a:lvl5pPr marL="0" indent="1828800">
              <a:buSzTx/>
              <a:buNone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37" name="Slide Slide (1).png" descr="Slide Slide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Slide Slide.png" descr="Slide Sl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2755197" y="2834540"/>
            <a:ext cx="10283256" cy="9616905"/>
          </a:xfrm>
          <a:prstGeom prst="rect">
            <a:avLst/>
          </a:prstGeom>
        </p:spPr>
        <p:txBody>
          <a:bodyPr/>
          <a:lstStyle>
            <a:lvl1pPr marL="609599" indent="-609599">
              <a:defRPr sz="4000"/>
            </a:lvl1pPr>
            <a:lvl2pPr marL="1219200" indent="-609600">
              <a:defRPr sz="4000"/>
            </a:lvl2pPr>
            <a:lvl3pPr marL="1828800" indent="-609600">
              <a:defRPr sz="4000"/>
            </a:lvl3pPr>
            <a:lvl4pPr marL="2438400" indent="-609600">
              <a:defRPr sz="4000"/>
            </a:lvl4pPr>
            <a:lvl5pPr marL="3048000" indent="-609600">
              <a:defRPr sz="40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7" name="PUC-Rio_toolkit_fotografia-23-03.png"/>
          <p:cNvSpPr>
            <a:spLocks noGrp="1"/>
          </p:cNvSpPr>
          <p:nvPr>
            <p:ph type="pic" sz="half" idx="21"/>
          </p:nvPr>
        </p:nvSpPr>
        <p:spPr>
          <a:xfrm>
            <a:off x="13060443" y="1067441"/>
            <a:ext cx="10916874" cy="1158101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8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2755197" y="1079500"/>
            <a:ext cx="10283256" cy="14351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Slide Title</a:t>
            </a:r>
          </a:p>
        </p:txBody>
      </p:sp>
      <p:pic>
        <p:nvPicPr>
          <p:cNvPr id="49" name="Slide Slide.png" descr="Slide 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Slide Section.png" descr="Slide 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63793" y="7962636"/>
            <a:ext cx="11305287" cy="4976353"/>
          </a:xfrm>
          <a:prstGeom prst="rect">
            <a:avLst/>
          </a:prstGeom>
        </p:spPr>
        <p:txBody>
          <a:bodyPr anchor="b"/>
          <a:lstStyle>
            <a:lvl1pPr>
              <a:defRPr sz="10000" spc="-200"/>
            </a:lvl1pPr>
          </a:lstStyle>
          <a:p>
            <a:r>
              <a:t>Section Title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UC-Rio_toolkit_fotografia-23-01.png"/>
          <p:cNvSpPr>
            <a:spLocks noGrp="1"/>
          </p:cNvSpPr>
          <p:nvPr>
            <p:ph type="pic" sz="quarter" idx="21"/>
          </p:nvPr>
        </p:nvSpPr>
        <p:spPr>
          <a:xfrm>
            <a:off x="15760700" y="1270000"/>
            <a:ext cx="9669068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7" name="PUC-Rio_toolkit_fotografia-23-02.png"/>
          <p:cNvSpPr>
            <a:spLocks noGrp="1"/>
          </p:cNvSpPr>
          <p:nvPr>
            <p:ph type="pic" sz="quarter" idx="22"/>
          </p:nvPr>
        </p:nvSpPr>
        <p:spPr>
          <a:xfrm>
            <a:off x="15760700" y="7098672"/>
            <a:ext cx="11878393" cy="541534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8" name="PUC-Rio_toolkit_fotografia-23-03.png"/>
          <p:cNvSpPr>
            <a:spLocks noGrp="1"/>
          </p:cNvSpPr>
          <p:nvPr>
            <p:ph type="pic" idx="23"/>
          </p:nvPr>
        </p:nvSpPr>
        <p:spPr>
          <a:xfrm>
            <a:off x="2441109" y="-901556"/>
            <a:ext cx="12938591" cy="1372573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Slide (1).png" descr="Slide Slide (1)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54500"/>
            <a:ext cx="21971000" cy="825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Rethink Sans SemiBold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Rethink Sans SemiBold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Rethink Sans SemiBold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Rethink Sans SemiBold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Rethink Sans SemiBold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Rethink Sans SemiBold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Rethink Sans SemiBold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Rethink Sans SemiBold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Rethink Sans SemiBold"/>
        </a:defRPr>
      </a:lvl9pPr>
    </p:titleStyle>
    <p:bodyStyle>
      <a:lvl1pPr marL="533400" marR="0" indent="-5334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Literata Regular"/>
          <a:ea typeface="Literata Regular"/>
          <a:cs typeface="Literata Regular"/>
          <a:sym typeface="Literata Regular"/>
        </a:defRPr>
      </a:lvl1pPr>
      <a:lvl2pPr marL="1143000" marR="0" indent="-5334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Literata Regular"/>
          <a:ea typeface="Literata Regular"/>
          <a:cs typeface="Literata Regular"/>
          <a:sym typeface="Literata Regular"/>
        </a:defRPr>
      </a:lvl2pPr>
      <a:lvl3pPr marL="1752600" marR="0" indent="-5334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Literata Regular"/>
          <a:ea typeface="Literata Regular"/>
          <a:cs typeface="Literata Regular"/>
          <a:sym typeface="Literata Regular"/>
        </a:defRPr>
      </a:lvl3pPr>
      <a:lvl4pPr marL="2362200" marR="0" indent="-5334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Literata Regular"/>
          <a:ea typeface="Literata Regular"/>
          <a:cs typeface="Literata Regular"/>
          <a:sym typeface="Literata Regular"/>
        </a:defRPr>
      </a:lvl4pPr>
      <a:lvl5pPr marL="2971800" marR="0" indent="-5334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Literata Regular"/>
          <a:ea typeface="Literata Regular"/>
          <a:cs typeface="Literata Regular"/>
          <a:sym typeface="Literata Regular"/>
        </a:defRPr>
      </a:lvl5pPr>
      <a:lvl6pPr marL="3581400" marR="0" indent="-5334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Literata Regular"/>
          <a:ea typeface="Literata Regular"/>
          <a:cs typeface="Literata Regular"/>
          <a:sym typeface="Literata Regular"/>
        </a:defRPr>
      </a:lvl6pPr>
      <a:lvl7pPr marL="4191000" marR="0" indent="-5334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Literata Regular"/>
          <a:ea typeface="Literata Regular"/>
          <a:cs typeface="Literata Regular"/>
          <a:sym typeface="Literata Regular"/>
        </a:defRPr>
      </a:lvl7pPr>
      <a:lvl8pPr marL="4800600" marR="0" indent="-5334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Literata Regular"/>
          <a:ea typeface="Literata Regular"/>
          <a:cs typeface="Literata Regular"/>
          <a:sym typeface="Literata Regular"/>
        </a:defRPr>
      </a:lvl8pPr>
      <a:lvl9pPr marL="5410200" marR="0" indent="-5334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Literata Regular"/>
          <a:ea typeface="Literata Regular"/>
          <a:cs typeface="Literata Regular"/>
          <a:sym typeface="Literata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0" y="1920240"/>
            <a:ext cx="6583680" cy="27413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27280" y="5669280"/>
            <a:ext cx="11795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4400" b="1" dirty="0">
                <a:solidFill>
                  <a:srgbClr val="4646FE"/>
                </a:solidFill>
                <a:latin typeface="Rethink Sans SemiBold"/>
              </a:rPr>
              <a:t>Consultoria com IA </a:t>
            </a:r>
            <a:r>
              <a:rPr sz="4400" b="1" dirty="0" err="1">
                <a:solidFill>
                  <a:srgbClr val="4646FE"/>
                </a:solidFill>
                <a:latin typeface="Rethink Sans SemiBold"/>
              </a:rPr>
              <a:t>na</a:t>
            </a:r>
            <a:r>
              <a:rPr sz="4400" b="1" dirty="0">
                <a:solidFill>
                  <a:srgbClr val="4646FE"/>
                </a:solidFill>
                <a:latin typeface="Rethink Sans SemiBold"/>
              </a:rPr>
              <a:t> </a:t>
            </a:r>
            <a:r>
              <a:rPr sz="4400" b="1" dirty="0" err="1">
                <a:solidFill>
                  <a:srgbClr val="4646FE"/>
                </a:solidFill>
                <a:latin typeface="Rethink Sans SemiBold"/>
              </a:rPr>
              <a:t>prática</a:t>
            </a:r>
            <a:endParaRPr sz="4400" b="1" dirty="0">
              <a:solidFill>
                <a:srgbClr val="4646FE"/>
              </a:solidFill>
              <a:latin typeface="Rethink Sans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527280" y="6858000"/>
            <a:ext cx="11795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  <a:buNone/>
            </a:pPr>
            <a:r>
              <a:rPr sz="12000" b="1">
                <a:solidFill>
                  <a:srgbClr val="0000AD"/>
                </a:solidFill>
                <a:latin typeface="Rethink Sans SemiBold"/>
              </a:rPr>
              <a:t>Impact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0" y="9875520"/>
            <a:ext cx="117957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SIEng 2026 · I³: Inovação, IA e Impacto nas Engenharias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PUC-Rio · 28 de agosto · Casa da Inovação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6000" b="1">
                <a:solidFill>
                  <a:srgbClr val="0000AD"/>
                </a:solidFill>
                <a:latin typeface="Rethink Sans SemiBold"/>
              </a:rPr>
              <a:t>O Impact Lab, hora a hora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34056" y="2240280"/>
            <a:ext cx="20665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4000" b="0">
                <a:solidFill>
                  <a:srgbClr val="1A1A28"/>
                </a:solidFill>
                <a:latin typeface="Rethink Sans"/>
              </a:rPr>
              <a:t>Um problema real do campus, resolvido com o Claude em um dia.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34056" y="3200400"/>
            <a:ext cx="20208240" cy="13441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54680" y="3200400"/>
            <a:ext cx="3291840" cy="1344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5200" b="1">
                <a:solidFill>
                  <a:srgbClr val="0000AD"/>
                </a:solidFill>
                <a:latin typeface="Rethink Sans SemiBold"/>
              </a:rPr>
              <a:t>09h00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3200400"/>
            <a:ext cx="15910559" cy="1344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  <a:buNone/>
            </a:pPr>
            <a:r>
              <a:rPr sz="4000" b="1">
                <a:solidFill>
                  <a:srgbClr val="1A1A28"/>
                </a:solidFill>
                <a:latin typeface="Rethink Sans SemiBold"/>
              </a:rPr>
              <a:t>Palestra — Consultoria com IA: cases reais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4056" y="4800600"/>
            <a:ext cx="20208240" cy="1344168"/>
          </a:xfrm>
          <a:prstGeom prst="roundRect">
            <a:avLst>
              <a:gd name="adj" fmla="val 7000"/>
            </a:avLst>
          </a:prstGeom>
          <a:solidFill>
            <a:srgbClr val="00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4680" y="4800600"/>
            <a:ext cx="3291840" cy="1344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5200" b="1">
                <a:solidFill>
                  <a:srgbClr val="F5F5F1"/>
                </a:solidFill>
                <a:latin typeface="Rethink Sans SemiBold"/>
              </a:rPr>
              <a:t>11h00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800600"/>
            <a:ext cx="15910559" cy="1344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  <a:buNone/>
            </a:pPr>
            <a:r>
              <a:rPr sz="4000" b="1">
                <a:solidFill>
                  <a:srgbClr val="F5F5F1"/>
                </a:solidFill>
                <a:latin typeface="Rethink Sans SemiBold"/>
              </a:rPr>
              <a:t>Workshop hands-on — mão na massa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34056" y="6400800"/>
            <a:ext cx="20208240" cy="13441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54680" y="6400800"/>
            <a:ext cx="3291840" cy="1344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5200" b="1">
                <a:solidFill>
                  <a:srgbClr val="0000AD"/>
                </a:solidFill>
                <a:latin typeface="Rethink Sans SemiBold"/>
              </a:rPr>
              <a:t>13h00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6400800"/>
            <a:ext cx="15910559" cy="1344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  <a:buNone/>
            </a:pPr>
            <a:r>
              <a:rPr sz="4000" b="1">
                <a:solidFill>
                  <a:srgbClr val="1A1A28"/>
                </a:solidFill>
                <a:latin typeface="Rethink Sans SemiBold"/>
              </a:rPr>
              <a:t>Almoço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34056" y="8001000"/>
            <a:ext cx="20208240" cy="13441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54680" y="8001000"/>
            <a:ext cx="3291840" cy="1344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5200" b="1">
                <a:solidFill>
                  <a:srgbClr val="0000AD"/>
                </a:solidFill>
                <a:latin typeface="Rethink Sans SemiBold"/>
              </a:rPr>
              <a:t>14h00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8001000"/>
            <a:ext cx="15910559" cy="1344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  <a:buNone/>
            </a:pPr>
            <a:r>
              <a:rPr sz="4000" b="1">
                <a:solidFill>
                  <a:srgbClr val="1A1A28"/>
                </a:solidFill>
                <a:latin typeface="Rethink Sans SemiBold"/>
              </a:rPr>
              <a:t>Finalização — GitHub até 14h30 (deadline)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34056" y="9601200"/>
            <a:ext cx="20208240" cy="1344168"/>
          </a:xfrm>
          <a:prstGeom prst="roundRect">
            <a:avLst>
              <a:gd name="adj" fmla="val 7000"/>
            </a:avLst>
          </a:prstGeom>
          <a:solidFill>
            <a:srgbClr val="00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54680" y="9601200"/>
            <a:ext cx="3291840" cy="1344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5200" b="1">
                <a:solidFill>
                  <a:srgbClr val="F5F5F1"/>
                </a:solidFill>
                <a:latin typeface="Rethink Sans SemiBold"/>
              </a:rPr>
              <a:t>15h00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9601200"/>
            <a:ext cx="15910559" cy="1344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  <a:buNone/>
            </a:pPr>
            <a:r>
              <a:rPr sz="4000" b="1">
                <a:solidFill>
                  <a:srgbClr val="F5F5F1"/>
                </a:solidFill>
                <a:latin typeface="Rethink Sans SemiBold"/>
              </a:rPr>
              <a:t>Apresentação dos finalistas à banca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34056" y="11201400"/>
            <a:ext cx="20208240" cy="13441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54680" y="11201400"/>
            <a:ext cx="3291840" cy="1344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5200" b="1">
                <a:solidFill>
                  <a:srgbClr val="0000AD"/>
                </a:solidFill>
                <a:latin typeface="Rethink Sans SemiBold"/>
              </a:rPr>
              <a:t>16h00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1201400"/>
            <a:ext cx="15910559" cy="1344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  <a:buNone/>
            </a:pPr>
            <a:r>
              <a:rPr sz="4000" b="1">
                <a:solidFill>
                  <a:srgbClr val="1A1A28"/>
                </a:solidFill>
                <a:latin typeface="Rethink Sans SemiBold"/>
              </a:rPr>
              <a:t>Sorteio + confraternização · Planetário</a:t>
            </a:r>
          </a:p>
        </p:txBody>
      </p:sp>
      <p:pic>
        <p:nvPicPr>
          <p:cNvPr id="3" name="Picture 2" descr="si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5480" y="12344400"/>
            <a:ext cx="3108960" cy="12945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6000" b="1">
                <a:solidFill>
                  <a:srgbClr val="0000AD"/>
                </a:solidFill>
                <a:latin typeface="Rethink Sans SemiBold"/>
              </a:rPr>
              <a:t>Como participar</a:t>
            </a:r>
          </a:p>
        </p:txBody>
      </p:sp>
      <p:pic>
        <p:nvPicPr>
          <p:cNvPr id="3" name="Picture 2" descr="si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5480" y="12344400"/>
            <a:ext cx="3108960" cy="129451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734056" y="2743200"/>
            <a:ext cx="10195560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sz="4200" b="1">
                <a:solidFill>
                  <a:srgbClr val="0000AD"/>
                </a:solidFill>
                <a:latin typeface="Rethink Sans SemiBold"/>
              </a:rPr>
              <a:t>Times multidisciplinares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Quem programa, quem entende do problema e quem apresenta.</a:t>
            </a:r>
          </a:p>
        </p:txBody>
      </p:sp>
      <p:sp>
        <p:nvSpPr>
          <p:cNvPr id="5" name="Oval 4"/>
          <p:cNvSpPr/>
          <p:nvPr/>
        </p:nvSpPr>
        <p:spPr>
          <a:xfrm>
            <a:off x="3191256" y="2286000"/>
            <a:ext cx="914400" cy="914400"/>
          </a:xfrm>
          <a:prstGeom prst="ellipse">
            <a:avLst/>
          </a:prstGeom>
          <a:solidFill>
            <a:srgbClr val="464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4000" b="1">
                <a:solidFill>
                  <a:srgbClr val="FFFFFF"/>
                </a:solidFill>
                <a:latin typeface="Rethink Sans SemiBold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86816" y="2743200"/>
            <a:ext cx="10195560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sz="4200" b="1">
                <a:solidFill>
                  <a:srgbClr val="0000AD"/>
                </a:solidFill>
                <a:latin typeface="Rethink Sans SemiBold"/>
              </a:rPr>
              <a:t>Um case por time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Escolha um dos quatro. Cruzar cases é bem-vindo.</a:t>
            </a:r>
          </a:p>
        </p:txBody>
      </p:sp>
      <p:sp>
        <p:nvSpPr>
          <p:cNvPr id="7" name="Oval 6"/>
          <p:cNvSpPr/>
          <p:nvPr/>
        </p:nvSpPr>
        <p:spPr>
          <a:xfrm>
            <a:off x="13844016" y="2286000"/>
            <a:ext cx="914400" cy="914400"/>
          </a:xfrm>
          <a:prstGeom prst="ellipse">
            <a:avLst/>
          </a:prstGeom>
          <a:solidFill>
            <a:srgbClr val="464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4000" b="1">
                <a:solidFill>
                  <a:srgbClr val="FFFFFF"/>
                </a:solidFill>
                <a:latin typeface="Rethink Sans SemiBold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4056" y="6583680"/>
            <a:ext cx="10195560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sz="4200" b="1">
                <a:solidFill>
                  <a:srgbClr val="0000AD"/>
                </a:solidFill>
                <a:latin typeface="Rethink Sans SemiBold"/>
              </a:rPr>
              <a:t>Construir com o Claude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Seu par o dia todo, com tutoria dos mentores.</a:t>
            </a:r>
          </a:p>
        </p:txBody>
      </p:sp>
      <p:sp>
        <p:nvSpPr>
          <p:cNvPr id="9" name="Oval 8"/>
          <p:cNvSpPr/>
          <p:nvPr/>
        </p:nvSpPr>
        <p:spPr>
          <a:xfrm>
            <a:off x="3191256" y="6126480"/>
            <a:ext cx="914400" cy="914400"/>
          </a:xfrm>
          <a:prstGeom prst="ellipse">
            <a:avLst/>
          </a:prstGeom>
          <a:solidFill>
            <a:srgbClr val="464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4000" b="1">
                <a:solidFill>
                  <a:srgbClr val="FFFFFF"/>
                </a:solidFill>
                <a:latin typeface="Rethink Sans SemiBold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386816" y="6583680"/>
            <a:ext cx="10195560" cy="3383280"/>
          </a:xfrm>
          <a:prstGeom prst="roundRect">
            <a:avLst>
              <a:gd name="adj" fmla="val 7000"/>
            </a:avLst>
          </a:prstGeom>
          <a:solidFill>
            <a:srgbClr val="00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sz="4200" b="1">
                <a:solidFill>
                  <a:srgbClr val="F5F5F1"/>
                </a:solidFill>
                <a:latin typeface="Rethink Sans SemiBold"/>
              </a:rPr>
              <a:t>Entrega no GitHub até 14h30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4000" b="0">
                <a:solidFill>
                  <a:srgbClr val="DDDDC4"/>
                </a:solidFill>
                <a:latin typeface="Rethink Sans"/>
              </a:rPr>
              <a:t>Vale o que estiver no repositório até lá.</a:t>
            </a:r>
          </a:p>
        </p:txBody>
      </p:sp>
      <p:sp>
        <p:nvSpPr>
          <p:cNvPr id="11" name="Oval 10"/>
          <p:cNvSpPr/>
          <p:nvPr/>
        </p:nvSpPr>
        <p:spPr>
          <a:xfrm>
            <a:off x="13844016" y="6126480"/>
            <a:ext cx="914400" cy="914400"/>
          </a:xfrm>
          <a:prstGeom prst="ellipse">
            <a:avLst/>
          </a:prstGeom>
          <a:solidFill>
            <a:srgbClr val="EFB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4000" b="1">
                <a:solidFill>
                  <a:srgbClr val="0000AD"/>
                </a:solidFill>
                <a:latin typeface="Rethink Sans SemiBold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4056" y="10287000"/>
            <a:ext cx="20665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No repo: copie times/_MODELO_TIME para a pasta do time. Guia em COMO_COMECAR.md.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6000" b="1">
                <a:solidFill>
                  <a:srgbClr val="0000AD"/>
                </a:solidFill>
                <a:latin typeface="Rethink Sans SemiBold"/>
              </a:rPr>
              <a:t>Acesse o repositório</a:t>
            </a:r>
          </a:p>
        </p:txBody>
      </p:sp>
      <p:pic>
        <p:nvPicPr>
          <p:cNvPr id="3" name="Picture 2" descr="qr_impact_la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931920"/>
            <a:ext cx="6949440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5120640"/>
            <a:ext cx="12344400" cy="5029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  <a:buNone/>
            </a:pPr>
            <a:r>
              <a:rPr sz="4600" b="1">
                <a:solidFill>
                  <a:srgbClr val="4646FE"/>
                </a:solidFill>
                <a:latin typeface="Rethink Sans SemiBold"/>
              </a:rPr>
              <a:t>Escaneie para começar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  <a:buNone/>
            </a:pPr>
            <a:r>
              <a:rPr sz="4000" b="1">
                <a:solidFill>
                  <a:srgbClr val="0000AD"/>
                </a:solidFill>
                <a:latin typeface="Rethink Sans SemiBold"/>
              </a:rPr>
              <a:t>github.com/igor-peres/impact-lab-sieng2026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Clone o repo, leia o README do case e copie times/_MODELO_TIME para a pasta do seu time.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5480" y="12344400"/>
            <a:ext cx="3108960" cy="12945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5600" b="1">
                <a:solidFill>
                  <a:srgbClr val="0000AD"/>
                </a:solidFill>
                <a:latin typeface="Rethink Sans SemiBold"/>
              </a:rPr>
              <a:t>Case 1 · Oportunidades integradas</a:t>
            </a:r>
          </a:p>
        </p:txBody>
      </p:sp>
      <p:pic>
        <p:nvPicPr>
          <p:cNvPr id="3" name="Picture 2" descr="si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5480" y="12344400"/>
            <a:ext cx="3108960" cy="12945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34056" y="2240280"/>
            <a:ext cx="206654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4000" b="0">
                <a:solidFill>
                  <a:srgbClr val="1A1A28"/>
                </a:solidFill>
                <a:latin typeface="Rethink Sans"/>
              </a:rPr>
              <a:t>Cruzar o que o aluno é (curso, período, bairro, interesses) com o que está aberto: estágio, monitoria, iniciação científica.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34056" y="4572000"/>
            <a:ext cx="48920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  <a:buNone/>
            </a:pPr>
            <a:r>
              <a:rPr sz="9200" b="1">
                <a:solidFill>
                  <a:srgbClr val="0000AD"/>
                </a:solidFill>
                <a:latin typeface="Rethink Sans SemiBold"/>
              </a:rPr>
              <a:t>3.550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vagas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416" y="4572000"/>
            <a:ext cx="48920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  <a:buNone/>
            </a:pPr>
            <a:r>
              <a:rPr sz="9200" b="1">
                <a:solidFill>
                  <a:srgbClr val="0000AD"/>
                </a:solidFill>
                <a:latin typeface="Rethink Sans SemiBold"/>
              </a:rPr>
              <a:t>2.187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alunos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66776" y="4572000"/>
            <a:ext cx="48920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  <a:buNone/>
            </a:pPr>
            <a:r>
              <a:rPr sz="9200" b="1">
                <a:solidFill>
                  <a:srgbClr val="0000AD"/>
                </a:solidFill>
                <a:latin typeface="Rethink Sans SemiBold"/>
              </a:rPr>
              <a:t>283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monitorias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33136" y="4572000"/>
            <a:ext cx="48920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  <a:buNone/>
            </a:pPr>
            <a:r>
              <a:rPr sz="9200" b="1">
                <a:solidFill>
                  <a:srgbClr val="0000AD"/>
                </a:solidFill>
                <a:latin typeface="Rethink Sans SemiBold"/>
              </a:rPr>
              <a:t>7.994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pares vaga–curso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056" y="7315200"/>
            <a:ext cx="20208240" cy="4480560"/>
          </a:xfrm>
          <a:prstGeom prst="roundRect">
            <a:avLst>
              <a:gd name="adj" fmla="val 7000"/>
            </a:avLst>
          </a:prstGeom>
          <a:solidFill>
            <a:srgbClr val="00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t"/>
          <a:lstStyle/>
          <a:p>
            <a:pPr algn="l">
              <a:lnSpc>
                <a:spcPct val="100000"/>
              </a:lnSpc>
              <a:spcAft>
                <a:spcPts val="1400"/>
              </a:spcAft>
              <a:buNone/>
            </a:pPr>
            <a:r>
              <a:rPr sz="4400" b="1">
                <a:solidFill>
                  <a:srgbClr val="FFFFFF"/>
                </a:solidFill>
                <a:latin typeface="Rethink Sans SemiBold"/>
              </a:rPr>
              <a:t>Perguntas para atacar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  <a:buNone/>
            </a:pPr>
            <a:r>
              <a:rPr sz="4000" b="0">
                <a:solidFill>
                  <a:srgbClr val="F5F5F1"/>
                </a:solidFill>
                <a:latin typeface="Rethink Sans"/>
              </a:rPr>
              <a:t>—  Dado um aluno, quais 5 vagas fazem mais sentido? E o inverso?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  <a:buNone/>
            </a:pPr>
            <a:r>
              <a:rPr sz="4000" b="0">
                <a:solidFill>
                  <a:srgbClr val="F5F5F1"/>
                </a:solidFill>
                <a:latin typeface="Rethink Sans"/>
              </a:rPr>
              <a:t>—  Qual vaga fica sem candidato elegível?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  <a:buNone/>
            </a:pPr>
            <a:r>
              <a:rPr sz="4000" b="0">
                <a:solidFill>
                  <a:srgbClr val="F5F5F1"/>
                </a:solidFill>
                <a:latin typeface="Rethink Sans"/>
              </a:rPr>
              <a:t>—  Dá para derivar uma taxonomia de área do texto dos anúncios?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5600" b="1">
                <a:solidFill>
                  <a:srgbClr val="0000AD"/>
                </a:solidFill>
                <a:latin typeface="Rethink Sans SemiBold"/>
              </a:rPr>
              <a:t>Case 2 · Vagas &amp; Carona</a:t>
            </a:r>
          </a:p>
        </p:txBody>
      </p:sp>
      <p:pic>
        <p:nvPicPr>
          <p:cNvPr id="3" name="Picture 2" descr="si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5480" y="12344400"/>
            <a:ext cx="3108960" cy="12945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34056" y="2240280"/>
            <a:ext cx="206654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4000" b="0">
                <a:solidFill>
                  <a:srgbClr val="1A1A28"/>
                </a:solidFill>
                <a:latin typeface="Rethink Sans"/>
              </a:rPr>
              <a:t>Prever a ocupação da bike e do carro no campus e formar grupos de carona, juntando horário de pico, permanência e bairro de moradia.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34056" y="4572000"/>
            <a:ext cx="48920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  <a:buNone/>
            </a:pPr>
            <a:r>
              <a:rPr sz="9200" b="1">
                <a:solidFill>
                  <a:srgbClr val="0000AD"/>
                </a:solidFill>
                <a:latin typeface="Rethink Sans SemiBold"/>
              </a:rPr>
              <a:t>23.429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sessões de bike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416" y="4572000"/>
            <a:ext cx="48920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  <a:buNone/>
            </a:pPr>
            <a:r>
              <a:rPr sz="9200" b="1">
                <a:solidFill>
                  <a:srgbClr val="0000AD"/>
                </a:solidFill>
                <a:latin typeface="Rethink Sans SemiBold"/>
              </a:rPr>
              <a:t>1.358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ciclistas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66776" y="4572000"/>
            <a:ext cx="48920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  <a:buNone/>
            </a:pPr>
            <a:r>
              <a:rPr sz="9200" b="1">
                <a:solidFill>
                  <a:srgbClr val="0000AD"/>
                </a:solidFill>
                <a:latin typeface="Rethink Sans SemiBold"/>
              </a:rPr>
              <a:t>6.858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tickets de carro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33136" y="4572000"/>
            <a:ext cx="48920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  <a:buNone/>
            </a:pPr>
            <a:r>
              <a:rPr sz="9200" b="1">
                <a:solidFill>
                  <a:srgbClr val="0000AD"/>
                </a:solidFill>
                <a:latin typeface="Rethink Sans SemiBold"/>
              </a:rPr>
              <a:t>360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vagas de carro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056" y="7315200"/>
            <a:ext cx="20208240" cy="4480560"/>
          </a:xfrm>
          <a:prstGeom prst="roundRect">
            <a:avLst>
              <a:gd name="adj" fmla="val 7000"/>
            </a:avLst>
          </a:prstGeom>
          <a:solidFill>
            <a:srgbClr val="00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t"/>
          <a:lstStyle/>
          <a:p>
            <a:pPr algn="l">
              <a:lnSpc>
                <a:spcPct val="100000"/>
              </a:lnSpc>
              <a:spcAft>
                <a:spcPts val="1400"/>
              </a:spcAft>
              <a:buNone/>
            </a:pPr>
            <a:r>
              <a:rPr sz="4400" b="1">
                <a:solidFill>
                  <a:srgbClr val="FFFFFF"/>
                </a:solidFill>
                <a:latin typeface="Rethink Sans SemiBold"/>
              </a:rPr>
              <a:t>Perguntas para atacar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  <a:buNone/>
            </a:pPr>
            <a:r>
              <a:rPr sz="4000" b="0">
                <a:solidFill>
                  <a:srgbClr val="F5F5F1"/>
                </a:solidFill>
                <a:latin typeface="Rethink Sans"/>
              </a:rPr>
              <a:t>—  A que horas a bike / o carro lota?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  <a:buNone/>
            </a:pPr>
            <a:r>
              <a:rPr sz="4000" b="0">
                <a:solidFill>
                  <a:srgbClr val="F5F5F1"/>
                </a:solidFill>
                <a:latin typeface="Rethink Sans"/>
              </a:rPr>
              <a:t>—  Que rotas de carona juntam quem sai da mesma região no mesmo horário?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  <a:buNone/>
            </a:pPr>
            <a:r>
              <a:rPr sz="4000" b="0">
                <a:solidFill>
                  <a:srgbClr val="F5F5F1"/>
                </a:solidFill>
                <a:latin typeface="Rethink Sans"/>
              </a:rPr>
              <a:t>—  Como tratar saídas não registradas sem enviesar a ocupação?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5600" b="1">
                <a:solidFill>
                  <a:srgbClr val="0000AD"/>
                </a:solidFill>
                <a:latin typeface="Rethink Sans SemiBold"/>
              </a:rPr>
              <a:t>Case 3 · Grade horária automatizada</a:t>
            </a:r>
          </a:p>
        </p:txBody>
      </p:sp>
      <p:pic>
        <p:nvPicPr>
          <p:cNvPr id="3" name="Picture 2" descr="si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5480" y="12344400"/>
            <a:ext cx="3108960" cy="12945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34056" y="2240280"/>
            <a:ext cx="206654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4000" b="0">
                <a:solidFill>
                  <a:srgbClr val="1A1A28"/>
                </a:solidFill>
                <a:latin typeface="Rethink Sans"/>
              </a:rPr>
              <a:t>Montar a grade sem choque como um problema de otimização com restrições — incluindo o turno de quem faz estágio.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34056" y="4572000"/>
            <a:ext cx="48920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  <a:buNone/>
            </a:pPr>
            <a:r>
              <a:rPr sz="9200" b="1">
                <a:solidFill>
                  <a:srgbClr val="0000AD"/>
                </a:solidFill>
                <a:latin typeface="Rethink Sans SemiBold"/>
              </a:rPr>
              <a:t>74.381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blocos de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416" y="4572000"/>
            <a:ext cx="48920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  <a:buNone/>
            </a:pPr>
            <a:r>
              <a:rPr sz="9200" b="1">
                <a:solidFill>
                  <a:srgbClr val="0000AD"/>
                </a:solidFill>
                <a:latin typeface="Rethink Sans SemiBold"/>
              </a:rPr>
              <a:t>4.947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turmas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66776" y="4572000"/>
            <a:ext cx="48920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  <a:buNone/>
            </a:pPr>
            <a:r>
              <a:rPr sz="9200" b="1">
                <a:solidFill>
                  <a:srgbClr val="0000AD"/>
                </a:solidFill>
                <a:latin typeface="Rethink Sans SemiBold"/>
              </a:rPr>
              <a:t>1.048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professores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33136" y="4572000"/>
            <a:ext cx="48920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  <a:buNone/>
            </a:pPr>
            <a:r>
              <a:rPr sz="9200" b="1">
                <a:solidFill>
                  <a:srgbClr val="0000AD"/>
                </a:solidFill>
                <a:latin typeface="Rethink Sans SemiBold"/>
              </a:rPr>
              <a:t>211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salas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056" y="7315200"/>
            <a:ext cx="20208240" cy="4480560"/>
          </a:xfrm>
          <a:prstGeom prst="roundRect">
            <a:avLst>
              <a:gd name="adj" fmla="val 7000"/>
            </a:avLst>
          </a:prstGeom>
          <a:solidFill>
            <a:srgbClr val="00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t"/>
          <a:lstStyle/>
          <a:p>
            <a:pPr algn="l">
              <a:lnSpc>
                <a:spcPct val="100000"/>
              </a:lnSpc>
              <a:spcAft>
                <a:spcPts val="1400"/>
              </a:spcAft>
              <a:buNone/>
            </a:pPr>
            <a:r>
              <a:rPr sz="4400" b="1">
                <a:solidFill>
                  <a:srgbClr val="FFFFFF"/>
                </a:solidFill>
                <a:latin typeface="Rethink Sans SemiBold"/>
              </a:rPr>
              <a:t>Perguntas para atacar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  <a:buNone/>
            </a:pPr>
            <a:r>
              <a:rPr sz="4000" b="0">
                <a:solidFill>
                  <a:srgbClr val="F5F5F1"/>
                </a:solidFill>
                <a:latin typeface="Rethink Sans"/>
              </a:rPr>
              <a:t>—  Dada uma restrição de turno, qual a melhor grade possível?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  <a:buNone/>
            </a:pPr>
            <a:r>
              <a:rPr sz="4000" b="0">
                <a:solidFill>
                  <a:srgbClr val="F5F5F1"/>
                </a:solidFill>
                <a:latin typeface="Rethink Sans"/>
              </a:rPr>
              <a:t>—  Ache os pares de disciplinas que nunca combinam sem choque.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  <a:buNone/>
            </a:pPr>
            <a:r>
              <a:rPr sz="4000" b="0">
                <a:solidFill>
                  <a:srgbClr val="F5F5F1"/>
                </a:solidFill>
                <a:latin typeface="Rethink Sans"/>
              </a:rPr>
              <a:t>—  Se a grade empurra o aluno para as 7h, o que muda no Case 2?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5600" b="1">
                <a:solidFill>
                  <a:srgbClr val="0000AD"/>
                </a:solidFill>
                <a:latin typeface="Rethink Sans SemiBold"/>
              </a:rPr>
              <a:t>Case 4 · Restaurantes integrados</a:t>
            </a:r>
          </a:p>
        </p:txBody>
      </p:sp>
      <p:pic>
        <p:nvPicPr>
          <p:cNvPr id="3" name="Picture 2" descr="si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5480" y="12344400"/>
            <a:ext cx="3108960" cy="12945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34056" y="2240280"/>
            <a:ext cx="20665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4000" b="0">
                <a:solidFill>
                  <a:srgbClr val="1A1A28"/>
                </a:solidFill>
                <a:latin typeface="Rethink Sans"/>
              </a:rPr>
              <a:t>Cardápios, preços e pedidos dos restaurantes e food trucks da PUC num só lugar — e os alunos constroem a 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34056" y="3749039"/>
            <a:ext cx="10058400" cy="7406640"/>
          </a:xfrm>
          <a:prstGeom prst="roundRect">
            <a:avLst>
              <a:gd name="adj" fmla="val 7000"/>
            </a:avLst>
          </a:prstGeom>
          <a:solidFill>
            <a:srgbClr val="EFB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sz="4400" b="1">
                <a:solidFill>
                  <a:srgbClr val="0000AD"/>
                </a:solidFill>
                <a:latin typeface="Rethink Sans SemiBold"/>
              </a:rPr>
              <a:t>O dado vocês criam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4000" b="0">
                <a:solidFill>
                  <a:srgbClr val="0000AD"/>
                </a:solidFill>
                <a:latin typeface="Rethink Sans"/>
              </a:rPr>
              <a:t>Este case não vem com dataset. A ideia: percorrer os restaurantes e food trucks da PUC, fotografar os cardápios e usar o Claude para virar uma base real e estruturada.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167360" y="3749039"/>
            <a:ext cx="10241280" cy="7406640"/>
          </a:xfrm>
          <a:prstGeom prst="roundRect">
            <a:avLst>
              <a:gd name="adj" fmla="val 7000"/>
            </a:avLst>
          </a:prstGeom>
          <a:solidFill>
            <a:srgbClr val="00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t"/>
          <a:lstStyle/>
          <a:p>
            <a:pPr algn="l">
              <a:lnSpc>
                <a:spcPct val="100000"/>
              </a:lnSpc>
              <a:spcAft>
                <a:spcPts val="1200"/>
              </a:spcAft>
              <a:buNone/>
            </a:pPr>
            <a:r>
              <a:rPr sz="4400" b="1">
                <a:solidFill>
                  <a:srgbClr val="FFFFFF"/>
                </a:solidFill>
                <a:latin typeface="Rethink Sans SemiBold"/>
              </a:rPr>
              <a:t>Onde dá para chegar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  <a:buNone/>
            </a:pPr>
            <a:r>
              <a:rPr sz="4000" b="0">
                <a:solidFill>
                  <a:srgbClr val="F5F5F1"/>
                </a:solidFill>
                <a:latin typeface="Rethink Sans"/>
              </a:rPr>
              <a:t>—  Busca por preço, tipo e restrição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  <a:buNone/>
            </a:pPr>
            <a:r>
              <a:rPr sz="4000" b="0">
                <a:solidFill>
                  <a:srgbClr val="F5F5F1"/>
                </a:solidFill>
                <a:latin typeface="Rethink Sans"/>
              </a:rPr>
              <a:t>—  Pedidos e delivery no campus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  <a:buNone/>
            </a:pPr>
            <a:r>
              <a:rPr sz="4000" b="0">
                <a:solidFill>
                  <a:srgbClr val="F5F5F1"/>
                </a:solidFill>
                <a:latin typeface="Rethink Sans"/>
              </a:rPr>
              <a:t>—  Área admin para os restaurantes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  <a:buNone/>
            </a:pPr>
            <a:r>
              <a:rPr sz="4000" b="0">
                <a:solidFill>
                  <a:srgbClr val="F5F5F1"/>
                </a:solidFill>
                <a:latin typeface="Rethink Sans"/>
              </a:rPr>
              <a:t>—  Área de pedidos para o cliente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6000" b="1">
                <a:solidFill>
                  <a:srgbClr val="0000AD"/>
                </a:solidFill>
                <a:latin typeface="Rethink Sans SemiBold"/>
              </a:rPr>
              <a:t>Sobre os dados</a:t>
            </a:r>
          </a:p>
        </p:txBody>
      </p:sp>
      <p:pic>
        <p:nvPicPr>
          <p:cNvPr id="3" name="Picture 2" descr="si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5480" y="12344400"/>
            <a:ext cx="3108960" cy="129451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734056" y="3017520"/>
            <a:ext cx="6492240" cy="6492240"/>
          </a:xfrm>
          <a:prstGeom prst="roundRect">
            <a:avLst>
              <a:gd name="adj" fmla="val 7000"/>
            </a:avLst>
          </a:prstGeom>
          <a:solidFill>
            <a:srgbClr val="00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sz="4200" b="1">
                <a:solidFill>
                  <a:srgbClr val="F5F5F1"/>
                </a:solidFill>
                <a:latin typeface="Rethink Sans SemiBold"/>
              </a:rPr>
              <a:t>Cuidado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4000" b="0">
                <a:solidFill>
                  <a:srgbClr val="DDDDC4"/>
                </a:solidFill>
                <a:latin typeface="Rethink Sans"/>
              </a:rPr>
              <a:t>Há pegadinhas propositais nos dados — leia os 'cuidados' do README antes de concluir.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29216" y="3017520"/>
            <a:ext cx="6492240" cy="6492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sz="4200" b="1">
                <a:solidFill>
                  <a:srgbClr val="0000AD"/>
                </a:solidFill>
                <a:latin typeface="Rethink Sans SemiBold"/>
              </a:rPr>
              <a:t>Privacidade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Uso exclusivo do projeto. Não compartilhe nem tente reidentificar ninguém.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724376" y="3017520"/>
            <a:ext cx="6492240" cy="6492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sz="4200" b="1" dirty="0" err="1">
                <a:solidFill>
                  <a:srgbClr val="0000AD"/>
                </a:solidFill>
                <a:latin typeface="Rethink Sans SemiBold"/>
              </a:rPr>
              <a:t>Propriedade</a:t>
            </a:r>
            <a:r>
              <a:rPr sz="4200" b="1" dirty="0">
                <a:solidFill>
                  <a:srgbClr val="0000AD"/>
                </a:solidFill>
                <a:latin typeface="Rethink Sans SemiBold"/>
              </a:rPr>
              <a:t> </a:t>
            </a:r>
            <a:r>
              <a:rPr sz="4200" b="1" dirty="0" err="1">
                <a:solidFill>
                  <a:srgbClr val="0000AD"/>
                </a:solidFill>
                <a:latin typeface="Rethink Sans SemiBold"/>
              </a:rPr>
              <a:t>intelectual</a:t>
            </a:r>
            <a:endParaRPr sz="4200" b="1" dirty="0">
              <a:solidFill>
                <a:srgbClr val="0000AD"/>
              </a:solidFill>
              <a:latin typeface="Rethink Sans SemiBold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4000" b="0" dirty="0">
                <a:solidFill>
                  <a:srgbClr val="5E5E5E"/>
                </a:solidFill>
                <a:latin typeface="Rethink Sans"/>
              </a:rPr>
              <a:t>Criações feitas com dados e apoio da PUC seguem a Política de Inovação: a titularidade é da Universidade. Quer levar adiante? A AGI/VRDI avalia proteção e transferência.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buNone/>
            </a:pPr>
            <a:endParaRPr lang="pt-BR" sz="4000" b="0" dirty="0" err="1">
              <a:solidFill>
                <a:srgbClr val="5E5E5E"/>
              </a:solidFill>
              <a:latin typeface="Rethink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34056" y="9829799"/>
            <a:ext cx="20665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Detalhes: USO-DOS-DADOS.md e Política de Inovação (docs/).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6000" b="1">
                <a:solidFill>
                  <a:srgbClr val="0000AD"/>
                </a:solidFill>
                <a:latin typeface="Rethink Sans SemiBold"/>
              </a:rPr>
              <a:t>Da entrega à banca</a:t>
            </a:r>
          </a:p>
        </p:txBody>
      </p:sp>
      <p:pic>
        <p:nvPicPr>
          <p:cNvPr id="3" name="Picture 2" descr="si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5480" y="12344400"/>
            <a:ext cx="3108960" cy="12945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34056" y="2240280"/>
            <a:ext cx="20665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4000" b="0">
                <a:solidFill>
                  <a:srgbClr val="1A1A28"/>
                </a:solidFill>
                <a:latin typeface="Rethink Sans"/>
              </a:rPr>
              <a:t>Muitos entregam; a banca vê os finalistas — como no Impact Lab da Anthropic.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34056" y="4114800"/>
            <a:ext cx="6492240" cy="5394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sz="4200" b="1">
                <a:solidFill>
                  <a:srgbClr val="0000AD"/>
                </a:solidFill>
                <a:latin typeface="Rethink Sans SemiBold"/>
              </a:rPr>
              <a:t>Todos entregam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Cada grupo sobe a solução no GitHub até 14h30.</a:t>
            </a:r>
          </a:p>
        </p:txBody>
      </p:sp>
      <p:sp>
        <p:nvSpPr>
          <p:cNvPr id="6" name="Oval 5"/>
          <p:cNvSpPr/>
          <p:nvPr/>
        </p:nvSpPr>
        <p:spPr>
          <a:xfrm>
            <a:off x="3099816" y="3657600"/>
            <a:ext cx="914400" cy="914400"/>
          </a:xfrm>
          <a:prstGeom prst="ellipse">
            <a:avLst/>
          </a:prstGeom>
          <a:solidFill>
            <a:srgbClr val="464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4000" b="1">
                <a:solidFill>
                  <a:srgbClr val="FFFFFF"/>
                </a:solidFill>
                <a:latin typeface="Rethink Sans SemiBold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29216" y="4114800"/>
            <a:ext cx="6492240" cy="5394960"/>
          </a:xfrm>
          <a:prstGeom prst="roundRect">
            <a:avLst>
              <a:gd name="adj" fmla="val 7000"/>
            </a:avLst>
          </a:prstGeom>
          <a:solidFill>
            <a:srgbClr val="00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sz="4200" b="1">
                <a:solidFill>
                  <a:srgbClr val="F5F5F1"/>
                </a:solidFill>
                <a:latin typeface="Rethink Sans SemiBold"/>
              </a:rPr>
              <a:t>Pré-banca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4000" b="0">
                <a:solidFill>
                  <a:srgbClr val="DDDDC4"/>
                </a:solidFill>
                <a:latin typeface="Rethink Sans"/>
              </a:rPr>
              <a:t>Mentores e jurados analisam os repositórios e escolhem os finalistas (até 6).</a:t>
            </a:r>
          </a:p>
        </p:txBody>
      </p:sp>
      <p:sp>
        <p:nvSpPr>
          <p:cNvPr id="8" name="Oval 7"/>
          <p:cNvSpPr/>
          <p:nvPr/>
        </p:nvSpPr>
        <p:spPr>
          <a:xfrm>
            <a:off x="10094976" y="3657600"/>
            <a:ext cx="914400" cy="914400"/>
          </a:xfrm>
          <a:prstGeom prst="ellipse">
            <a:avLst/>
          </a:prstGeom>
          <a:solidFill>
            <a:srgbClr val="EFB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4000" b="1">
                <a:solidFill>
                  <a:srgbClr val="0000AD"/>
                </a:solidFill>
                <a:latin typeface="Rethink Sans SemiBold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24376" y="4114800"/>
            <a:ext cx="6492240" cy="5394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sz="4200" b="1">
                <a:solidFill>
                  <a:srgbClr val="0000AD"/>
                </a:solidFill>
                <a:latin typeface="Rethink Sans SemiBold"/>
              </a:rPr>
              <a:t>Banca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4000" b="0">
                <a:solidFill>
                  <a:srgbClr val="5E5E5E"/>
                </a:solidFill>
                <a:latin typeface="Rethink Sans"/>
              </a:rPr>
              <a:t>Os finalistas apresentam ao vivo; a banca escolhe os destaques.</a:t>
            </a:r>
          </a:p>
        </p:txBody>
      </p:sp>
      <p:sp>
        <p:nvSpPr>
          <p:cNvPr id="10" name="Oval 9"/>
          <p:cNvSpPr/>
          <p:nvPr/>
        </p:nvSpPr>
        <p:spPr>
          <a:xfrm>
            <a:off x="17090135" y="3657600"/>
            <a:ext cx="914400" cy="914400"/>
          </a:xfrm>
          <a:prstGeom prst="ellipse">
            <a:avLst/>
          </a:prstGeom>
          <a:solidFill>
            <a:srgbClr val="464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4000" b="1">
                <a:solidFill>
                  <a:srgbClr val="FFFFFF"/>
                </a:solidFill>
                <a:latin typeface="Rethink Sans SemiBold"/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6000" b="1">
                <a:solidFill>
                  <a:srgbClr val="0000AD"/>
                </a:solidFill>
                <a:latin typeface="Rethink Sans SemiBold"/>
              </a:rPr>
              <a:t>Critérios e pesos</a:t>
            </a:r>
          </a:p>
        </p:txBody>
      </p:sp>
      <p:pic>
        <p:nvPicPr>
          <p:cNvPr id="3" name="Picture 2" descr="si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5480" y="12344400"/>
            <a:ext cx="3108960" cy="12945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34056" y="2286000"/>
            <a:ext cx="20665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4000" b="0">
                <a:solidFill>
                  <a:srgbClr val="1A1A28"/>
                </a:solidFill>
                <a:latin typeface="Rethink Sans"/>
              </a:rPr>
              <a:t>A banca dá nota de 1 a 5 em cada critério, ponderada pelos pesos: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34056" y="3566160"/>
            <a:ext cx="7863840" cy="7498079"/>
          </a:xfrm>
          <a:prstGeom prst="roundRect">
            <a:avLst>
              <a:gd name="adj" fmla="val 7000"/>
            </a:avLst>
          </a:prstGeom>
          <a:solidFill>
            <a:srgbClr val="00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0" y="4069080"/>
            <a:ext cx="6949440" cy="6492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</a:pPr>
            <a:r>
              <a:rPr sz="15000" b="1">
                <a:solidFill>
                  <a:srgbClr val="EFBC2B"/>
                </a:solidFill>
                <a:latin typeface="Rethink Sans SemiBold"/>
              </a:rPr>
              <a:t>40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buNone/>
            </a:pPr>
            <a:r>
              <a:rPr sz="4800" b="1">
                <a:solidFill>
                  <a:srgbClr val="F5F5F1"/>
                </a:solidFill>
                <a:latin typeface="Rethink Sans SemiBold"/>
              </a:rPr>
              <a:t>Impacto real</a:t>
            </a:r>
          </a:p>
          <a:p>
            <a:pPr algn="l">
              <a:lnSpc>
                <a:spcPct val="108000"/>
              </a:lnSpc>
              <a:spcAft>
                <a:spcPts val="600"/>
              </a:spcAft>
              <a:buNone/>
            </a:pPr>
            <a:r>
              <a:rPr sz="4000" b="0">
                <a:solidFill>
                  <a:srgbClr val="DDDDC4"/>
                </a:solidFill>
                <a:latin typeface="Rethink Sans"/>
              </a:rPr>
              <a:t>A PUC usaria isso amanhã? É o critério que mais pesa.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55096" y="3566160"/>
            <a:ext cx="11896344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sz="4600" b="1">
                <a:solidFill>
                  <a:srgbClr val="0000AD"/>
                </a:solidFill>
                <a:latin typeface="Rethink Sans SemiBold"/>
              </a:rPr>
              <a:t>20   ·   Produto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55096" y="5495544"/>
            <a:ext cx="11896344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sz="4600" b="1">
                <a:solidFill>
                  <a:srgbClr val="0000AD"/>
                </a:solidFill>
                <a:latin typeface="Rethink Sans SemiBold"/>
              </a:rPr>
              <a:t>20   ·   Engenharia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55096" y="7424927"/>
            <a:ext cx="11896344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sz="4600" b="1">
                <a:solidFill>
                  <a:srgbClr val="0000AD"/>
                </a:solidFill>
                <a:latin typeface="Rethink Sans SemiBold"/>
              </a:rPr>
              <a:t>10   ·   Ideia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55096" y="9354312"/>
            <a:ext cx="11896344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9184" tIns="274320" rIns="329184" bIns="256032" rtlCol="0" anchor="ctr"/>
          <a:lstStyle/>
          <a:p>
            <a:pPr algn="l">
              <a:lnSpc>
                <a:spcPct val="100000"/>
              </a:lnSpc>
              <a:spcAft>
                <a:spcPts val="900"/>
              </a:spcAft>
              <a:buNone/>
            </a:pPr>
            <a:r>
              <a:rPr sz="4600" b="1">
                <a:solidFill>
                  <a:srgbClr val="0000AD"/>
                </a:solidFill>
                <a:latin typeface="Rethink Sans SemiBold"/>
              </a:rPr>
              <a:t>10   ·   Apresentação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9600" b="1">
                <a:solidFill>
                  <a:srgbClr val="0000AD"/>
                </a:solidFill>
                <a:latin typeface="Rethink Sans SemiBold"/>
              </a:rPr>
              <a:t>Mão na massa.</a:t>
            </a:r>
          </a:p>
        </p:txBody>
      </p:sp>
      <p:pic>
        <p:nvPicPr>
          <p:cNvPr id="4" name="Picture 3" descr="sie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5718810"/>
            <a:ext cx="6400800" cy="26651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0" y="4297680"/>
            <a:ext cx="10881360" cy="5852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4000" b="1">
                <a:solidFill>
                  <a:srgbClr val="EFBC2B"/>
                </a:solidFill>
                <a:latin typeface="Rethink Sans SemiBold"/>
              </a:rPr>
              <a:t>Parceiros de consultoria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  <a:buNone/>
            </a:pPr>
            <a:r>
              <a:rPr sz="4000" b="0">
                <a:solidFill>
                  <a:srgbClr val="F5F5F1"/>
                </a:solidFill>
                <a:latin typeface="Rethink Sans"/>
              </a:rPr>
              <a:t>Taicor · MGV Tech · Visagio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4000" b="1">
                <a:solidFill>
                  <a:srgbClr val="EFBC2B"/>
                </a:solidFill>
                <a:latin typeface="Rethink Sans SemiBold"/>
              </a:rPr>
              <a:t>Organização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  <a:buNone/>
            </a:pPr>
            <a:r>
              <a:rPr sz="4000" b="0">
                <a:solidFill>
                  <a:srgbClr val="F5F5F1"/>
                </a:solidFill>
                <a:latin typeface="Rethink Sans"/>
              </a:rPr>
              <a:t>Professores da PUC-Rio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4000" b="1">
                <a:solidFill>
                  <a:srgbClr val="EFBC2B"/>
                </a:solidFill>
                <a:latin typeface="Rethink Sans SemiBold"/>
              </a:rPr>
              <a:t>Dados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4000" b="0">
                <a:solidFill>
                  <a:srgbClr val="F5F5F1"/>
                </a:solidFill>
                <a:latin typeface="Rethink Sans"/>
              </a:rPr>
              <a:t>DSI · Parqueamento · PIBIC · CCESP · SAU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Rethink Sans SemiBold"/>
        <a:ea typeface="Rethink Sans SemiBold"/>
        <a:cs typeface="Rethink Sans SemiBold"/>
      </a:majorFont>
      <a:minorFont>
        <a:latin typeface="Rethink Sans SemiBold"/>
        <a:ea typeface="Rethink Sans SemiBold"/>
        <a:cs typeface="Rethink Sans Semi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Literata Regular"/>
            <a:ea typeface="Literata Regular"/>
            <a:cs typeface="Literata Regular"/>
            <a:sym typeface="Literata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Rethink Sans SemiBold"/>
        <a:ea typeface="Rethink Sans SemiBold"/>
        <a:cs typeface="Rethink Sans SemiBold"/>
      </a:majorFont>
      <a:minorFont>
        <a:latin typeface="Rethink Sans SemiBold"/>
        <a:ea typeface="Rethink Sans SemiBold"/>
        <a:cs typeface="Rethink Sans Semi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Literata Regular"/>
            <a:ea typeface="Literata Regular"/>
            <a:cs typeface="Literata Regular"/>
            <a:sym typeface="Literata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777</Words>
  <Application>Microsoft Office PowerPoint</Application>
  <PresentationFormat>Personalizar</PresentationFormat>
  <Paragraphs>122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Helvetica</vt:lpstr>
      <vt:lpstr>Helvetica Neue</vt:lpstr>
      <vt:lpstr>Literata Regular</vt:lpstr>
      <vt:lpstr>Rethink Sans</vt:lpstr>
      <vt:lpstr>Rethink Sans Regular</vt:lpstr>
      <vt:lpstr>Rethink Sans SemiBold</vt:lpstr>
      <vt:lpstr>21_BasicWhite</vt:lpstr>
      <vt:lpstr>Apresentação do PowerPoint</vt:lpstr>
      <vt:lpstr>O Impact Lab, hora a hora</vt:lpstr>
      <vt:lpstr>Como participar</vt:lpstr>
      <vt:lpstr>Acesse o repositório</vt:lpstr>
      <vt:lpstr>Case 1 · Oportunidades integradas</vt:lpstr>
      <vt:lpstr>Case 2 · Vagas &amp; Carona</vt:lpstr>
      <vt:lpstr>Case 3 · Grade horária automatizada</vt:lpstr>
      <vt:lpstr>Case 4 · Restaurantes integrados</vt:lpstr>
      <vt:lpstr>Sobre os dados</vt:lpstr>
      <vt:lpstr>Da entrega à banca</vt:lpstr>
      <vt:lpstr>Critérios e pesos</vt:lpstr>
      <vt:lpstr>Mão na massa.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Peres</dc:creator>
  <cp:lastModifiedBy>ADM</cp:lastModifiedBy>
  <cp:revision>1</cp:revision>
  <dcterms:modified xsi:type="dcterms:W3CDTF">2026-08-28T15:01:50Z</dcterms:modified>
</cp:coreProperties>
</file>